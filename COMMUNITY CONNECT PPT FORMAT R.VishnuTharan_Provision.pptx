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7" r:id="rId5"/>
    <p:sldId id="272" r:id="rId6"/>
    <p:sldId id="273" r:id="rId7"/>
    <p:sldId id="274" r:id="rId8"/>
    <p:sldId id="275" r:id="rId9"/>
    <p:sldId id="261" r:id="rId10"/>
    <p:sldId id="276" r:id="rId11"/>
    <p:sldId id="277" r:id="rId12"/>
    <p:sldId id="262" r:id="rId13"/>
    <p:sldId id="280" r:id="rId14"/>
    <p:sldId id="279" r:id="rId15"/>
    <p:sldId id="281" r:id="rId16"/>
    <p:sldId id="263" r:id="rId17"/>
    <p:sldId id="282" r:id="rId18"/>
    <p:sldId id="283" r:id="rId19"/>
    <p:sldId id="265" r:id="rId20"/>
    <p:sldId id="266" r:id="rId21"/>
  </p:sldIdLst>
  <p:sldSz cx="12192000" cy="6858000"/>
  <p:notesSz cx="6858000" cy="9144000"/>
  <p:embeddedFontLst>
    <p:embeddedFont>
      <p:font typeface="Algerian" panose="04020705040A02060702" pitchFamily="82" charset="0"/>
      <p:regular r:id="rId23"/>
    </p:embeddedFont>
    <p:embeddedFont>
      <p:font typeface="Bernard MT Condensed" panose="02050806060905020404" pitchFamily="18" charset="0"/>
      <p:regular r:id="rId24"/>
    </p:embeddedFont>
    <p:embeddedFont>
      <p:font typeface="Libre Baskerville" panose="02000000000000000000" pitchFamily="2" charset="0"/>
      <p:regular r:id="rId25"/>
      <p:bold r:id="rId26"/>
      <p:italic r:id="rId27"/>
    </p:embeddedFont>
    <p:embeddedFont>
      <p:font typeface="Sitka Display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jMciXc0RXhm920n87S8O1+b+tX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01" autoAdjust="0"/>
  </p:normalViewPr>
  <p:slideViewPr>
    <p:cSldViewPr snapToGrid="0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7B372480-1BA6-DC10-D58B-6F8F4936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AA897EAF-EA45-EADC-ED80-C23CED76A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>
            <a:extLst>
              <a:ext uri="{FF2B5EF4-FFF2-40B4-BE49-F238E27FC236}">
                <a16:creationId xmlns:a16="http://schemas.microsoft.com/office/drawing/2014/main" id="{528FEABD-8F83-9030-20A4-231ABFE86D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751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BD95AF80-BDF4-4CBC-3161-77702B869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>
            <a:extLst>
              <a:ext uri="{FF2B5EF4-FFF2-40B4-BE49-F238E27FC236}">
                <a16:creationId xmlns:a16="http://schemas.microsoft.com/office/drawing/2014/main" id="{A321DC05-BE10-0D83-2B21-2EFE650BC0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>
            <a:extLst>
              <a:ext uri="{FF2B5EF4-FFF2-40B4-BE49-F238E27FC236}">
                <a16:creationId xmlns:a16="http://schemas.microsoft.com/office/drawing/2014/main" id="{AA45C684-866A-F21F-E099-76C74FDF6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641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E74C0189-08E1-856E-E44C-5D9B88DF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B2D1EA52-3C57-327D-5F3B-ECA5E9685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A70EBBCC-A272-5A6D-8922-63822F413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024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F16D98B6-84B4-BD22-7992-8CC3675F2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DF5DB282-7DCE-B17C-4F5B-C6D9644877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442365E7-C1F2-B6AE-14ED-8258041CA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587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500BFE9F-53D2-CD86-1618-0AE5BB8D8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>
            <a:extLst>
              <a:ext uri="{FF2B5EF4-FFF2-40B4-BE49-F238E27FC236}">
                <a16:creationId xmlns:a16="http://schemas.microsoft.com/office/drawing/2014/main" id="{E955FDCB-B3D7-711D-04A8-E8B60F8AA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3D06F32E-0CE7-92CF-2E99-9891E7E04E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3294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A91A9A8F-3993-5BCD-64CB-7F010CA1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0C515D04-3AE8-9958-F67F-3E4BD10461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>
            <a:extLst>
              <a:ext uri="{FF2B5EF4-FFF2-40B4-BE49-F238E27FC236}">
                <a16:creationId xmlns:a16="http://schemas.microsoft.com/office/drawing/2014/main" id="{31256340-0DEB-14E9-2499-707BFF71F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483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88909289-9367-3A53-32F0-18A5ABBD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>
            <a:extLst>
              <a:ext uri="{FF2B5EF4-FFF2-40B4-BE49-F238E27FC236}">
                <a16:creationId xmlns:a16="http://schemas.microsoft.com/office/drawing/2014/main" id="{23CCF40E-382D-EABC-9A14-054FD0502D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>
            <a:extLst>
              <a:ext uri="{FF2B5EF4-FFF2-40B4-BE49-F238E27FC236}">
                <a16:creationId xmlns:a16="http://schemas.microsoft.com/office/drawing/2014/main" id="{DD8DE089-E5FD-8D84-8463-C9508065F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771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8D69F7F-814D-545C-942C-A66CC73A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>
            <a:extLst>
              <a:ext uri="{FF2B5EF4-FFF2-40B4-BE49-F238E27FC236}">
                <a16:creationId xmlns:a16="http://schemas.microsoft.com/office/drawing/2014/main" id="{43697A89-AA36-9063-5EB9-6F7AD9F5EB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>
            <a:extLst>
              <a:ext uri="{FF2B5EF4-FFF2-40B4-BE49-F238E27FC236}">
                <a16:creationId xmlns:a16="http://schemas.microsoft.com/office/drawing/2014/main" id="{C11F4437-0DC2-2BE3-84E2-D0DD6E36EF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441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0D8EF96-1012-A719-989D-72876EF1D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>
            <a:extLst>
              <a:ext uri="{FF2B5EF4-FFF2-40B4-BE49-F238E27FC236}">
                <a16:creationId xmlns:a16="http://schemas.microsoft.com/office/drawing/2014/main" id="{046F69BB-EE40-F035-74A9-A7DD6FDF9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>
            <a:extLst>
              <a:ext uri="{FF2B5EF4-FFF2-40B4-BE49-F238E27FC236}">
                <a16:creationId xmlns:a16="http://schemas.microsoft.com/office/drawing/2014/main" id="{66F7A210-2E07-57C7-DC2A-DD84BC8F22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063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652B55B-973F-2377-CA7F-9276B7EA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>
            <a:extLst>
              <a:ext uri="{FF2B5EF4-FFF2-40B4-BE49-F238E27FC236}">
                <a16:creationId xmlns:a16="http://schemas.microsoft.com/office/drawing/2014/main" id="{53F1C4EA-F0F7-2E3A-B415-8C03EFC297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>
            <a:extLst>
              <a:ext uri="{FF2B5EF4-FFF2-40B4-BE49-F238E27FC236}">
                <a16:creationId xmlns:a16="http://schemas.microsoft.com/office/drawing/2014/main" id="{495549AE-B399-706A-8B86-7AE9EEF7B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893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1BD602F8-27C8-E0DC-F4AD-328DE6DE4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>
            <a:extLst>
              <a:ext uri="{FF2B5EF4-FFF2-40B4-BE49-F238E27FC236}">
                <a16:creationId xmlns:a16="http://schemas.microsoft.com/office/drawing/2014/main" id="{BEB56FF9-8116-C359-90E0-756830F8A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>
            <a:extLst>
              <a:ext uri="{FF2B5EF4-FFF2-40B4-BE49-F238E27FC236}">
                <a16:creationId xmlns:a16="http://schemas.microsoft.com/office/drawing/2014/main" id="{AB1FE890-B3AD-F791-0FF0-03BAE2E1F4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7544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9AD6CCB7-CEFA-7AB3-9D4C-240347FF1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>
            <a:extLst>
              <a:ext uri="{FF2B5EF4-FFF2-40B4-BE49-F238E27FC236}">
                <a16:creationId xmlns:a16="http://schemas.microsoft.com/office/drawing/2014/main" id="{6463A1C5-956C-F0E6-C656-C30933BF0B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>
            <a:extLst>
              <a:ext uri="{FF2B5EF4-FFF2-40B4-BE49-F238E27FC236}">
                <a16:creationId xmlns:a16="http://schemas.microsoft.com/office/drawing/2014/main" id="{8F229B12-20B2-1EFF-0BFB-1CDEF3FDB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1539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/>
          <p:nvPr/>
        </p:nvSpPr>
        <p:spPr>
          <a:xfrm>
            <a:off x="830837" y="2530578"/>
            <a:ext cx="10071536" cy="92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291239" y="4487172"/>
            <a:ext cx="4311918" cy="1322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i="0" u="sng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Details</a:t>
            </a: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R.VishnuTharan,</a:t>
            </a: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 No.: RA2411003020368</a:t>
            </a: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&amp; Dept : B.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ech CSE F</a:t>
            </a: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291239" y="549667"/>
            <a:ext cx="879665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sz="20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RAMAPURAM</a:t>
            </a:r>
            <a:endParaRPr sz="1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018003" y="2533788"/>
            <a:ext cx="600704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21GNP301L- COMMUNITY CONNECT</a:t>
            </a:r>
            <a:endParaRPr sz="24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7751519" y="4487172"/>
            <a:ext cx="4311918" cy="1322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1" u="sng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Incharge Details</a:t>
            </a:r>
            <a:endParaRPr b="1" u="sng" dirty="0">
              <a:solidFill>
                <a:srgbClr val="FF0000"/>
              </a:solidFill>
            </a:endParaRP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Saraswati</a:t>
            </a: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</a:p>
          <a:p>
            <a:pPr marL="0" marR="0" lvl="0" indent="0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 CSE</a:t>
            </a:r>
            <a:endParaRPr dirty="0"/>
          </a:p>
        </p:txBody>
      </p:sp>
      <p:pic>
        <p:nvPicPr>
          <p:cNvPr id="99" name="Google Shape;99;p1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>
            <a:spLocks noGrp="1"/>
          </p:cNvSpPr>
          <p:nvPr>
            <p:ph type="title"/>
          </p:nvPr>
        </p:nvSpPr>
        <p:spPr>
          <a:xfrm>
            <a:off x="2811632" y="417393"/>
            <a:ext cx="5606504" cy="657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500"/>
              <a:buFont typeface="Algerian"/>
              <a:buNone/>
            </a:pPr>
            <a:r>
              <a:rPr lang="en-US" sz="2500">
                <a:solidFill>
                  <a:srgbClr val="00B0F0"/>
                </a:solidFill>
                <a:latin typeface="Algerian"/>
                <a:ea typeface="Algerian"/>
                <a:cs typeface="Algerian"/>
                <a:sym typeface="Algerian"/>
              </a:rPr>
              <a:t>Presentation overview:</a:t>
            </a:r>
            <a:endParaRPr sz="2500">
              <a:solidFill>
                <a:srgbClr val="00B0F0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lvl="0" indent="-463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Course Overview</a:t>
            </a:r>
            <a:endParaRPr sz="2000" dirty="0"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About the Organization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choosing the specific organization</a:t>
            </a:r>
            <a:endParaRPr sz="2000" dirty="0"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of Activities of the organization</a:t>
            </a:r>
            <a:endParaRPr sz="2000" dirty="0">
              <a:latin typeface="Times New Roman" panose="02020603050405020304" pitchFamily="18" charset="0"/>
              <a:ea typeface="Algerian"/>
              <a:cs typeface="Times New Roman" panose="02020603050405020304" pitchFamily="18" charset="0"/>
              <a:sym typeface="Algerian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Week-wise activity undertaken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dirty="0">
                <a:latin typeface="Times New Roman" panose="02020603050405020304" pitchFamily="18" charset="0"/>
                <a:ea typeface="Algerian"/>
                <a:cs typeface="Times New Roman" panose="02020603050405020304" pitchFamily="18" charset="0"/>
                <a:sym typeface="Algerian"/>
              </a:rPr>
              <a:t>Tangible learning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lvl="0" indent="-463550" algn="l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contribution to organization during the service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period:certificate</a:t>
            </a:r>
            <a:endParaRPr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06" name="Google Shape;106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07" name="Google Shape;10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8" name="Google Shape;108;p2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3792019" y="236893"/>
            <a:ext cx="3193242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Course overview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14" name="Google Shape;114;p3"/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50000"/>
              </a:lnSpc>
            </a:pPr>
            <a:r>
              <a:rPr sz="2000" b="1" dirty="0">
                <a:latin typeface="Times New Roman"/>
              </a:rPr>
              <a:t>Need of the Course: Community Connect is designed to in still social responsibility and civic engagement in engineering students by involving them directly in community/digital surveying service. It bridges classroom learning with real-world impact.</a:t>
            </a:r>
          </a:p>
          <a:p>
            <a:pPr lvl="0">
              <a:lnSpc>
                <a:spcPct val="150000"/>
              </a:lnSpc>
            </a:pPr>
            <a:r>
              <a:rPr sz="2000" b="1" dirty="0">
                <a:latin typeface="Times New Roman"/>
              </a:rPr>
              <a:t>Organization Details: Pro-Vision — an public charitable trust empowering children, women and persons with disabilities through sustainable development.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of Course: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weeks (mention your actual start–end dates), conducted as part of the 21GNP301L curriculum.</a:t>
            </a:r>
          </a:p>
        </p:txBody>
      </p:sp>
      <p:sp>
        <p:nvSpPr>
          <p:cNvPr id="115" name="Google Shape;1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7" name="Google Shape;117;p3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E46362CA-8149-55B9-3A41-F1FB13A1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9CC829C3-AA2B-32FC-A34F-C49D1408A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5203" y="417393"/>
            <a:ext cx="443758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ABOUT THE </a:t>
            </a: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ORGANIZATION</a:t>
            </a:r>
            <a:r>
              <a:rPr lang="en-US" sz="250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:</a:t>
            </a:r>
          </a:p>
        </p:txBody>
      </p: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CE212810-6086-D5F1-695C-E0D4044B71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764153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sz="2600">
                <a:latin typeface="Times New Roman"/>
              </a:rPr>
              <a:t>❖ </a:t>
            </a:r>
            <a:r>
              <a:rPr sz="2600" dirty="0">
                <a:latin typeface="Times New Roman"/>
              </a:rPr>
              <a:t>Pro-Vision (Organization) is a registered trust based in Kanyakumari District, working to raise public awareness about the community development, empowering marginalized groups and conducting digital surveys.</a:t>
            </a:r>
            <a:br>
              <a:rPr sz="2600" dirty="0"/>
            </a:br>
            <a:endParaRPr sz="2600" dirty="0"/>
          </a:p>
        </p:txBody>
      </p:sp>
      <p:sp>
        <p:nvSpPr>
          <p:cNvPr id="124" name="Google Shape;124;p4">
            <a:extLst>
              <a:ext uri="{FF2B5EF4-FFF2-40B4-BE49-F238E27FC236}">
                <a16:creationId xmlns:a16="http://schemas.microsoft.com/office/drawing/2014/main" id="{C3841633-606E-97C6-D330-BD54DDD99D7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21GNP301L-COMMUNITY CONNECT                                    </a:t>
            </a:r>
            <a:endParaRPr lang="en-US" dirty="0"/>
          </a:p>
        </p:txBody>
      </p:sp>
      <p:pic>
        <p:nvPicPr>
          <p:cNvPr id="126" name="Google Shape;126;p4" title="1739781442631.jpg">
            <a:extLst>
              <a:ext uri="{FF2B5EF4-FFF2-40B4-BE49-F238E27FC236}">
                <a16:creationId xmlns:a16="http://schemas.microsoft.com/office/drawing/2014/main" id="{83CCB1E9-090B-A927-69AD-65B637699D7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2192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6DEC362C-957C-5CED-D9DD-05F2BA02F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>
            <a:extLst>
              <a:ext uri="{FF2B5EF4-FFF2-40B4-BE49-F238E27FC236}">
                <a16:creationId xmlns:a16="http://schemas.microsoft.com/office/drawing/2014/main" id="{A975920B-D83C-5C8F-5F9C-9B57BD6D75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5203" y="417393"/>
            <a:ext cx="443758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ABOUT THE </a:t>
            </a: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ORGANIZATION</a:t>
            </a:r>
            <a:r>
              <a:rPr lang="en-US" sz="2500" dirty="0">
                <a:solidFill>
                  <a:schemeClr val="dk1"/>
                </a:solidFill>
                <a:latin typeface="Algerian"/>
                <a:ea typeface="Algerian"/>
                <a:cs typeface="Algerian"/>
                <a:sym typeface="Algerian"/>
              </a:rPr>
              <a:t>:</a:t>
            </a:r>
          </a:p>
        </p:txBody>
      </p:sp>
      <p:sp>
        <p:nvSpPr>
          <p:cNvPr id="123" name="Google Shape;123;p4">
            <a:extLst>
              <a:ext uri="{FF2B5EF4-FFF2-40B4-BE49-F238E27FC236}">
                <a16:creationId xmlns:a16="http://schemas.microsoft.com/office/drawing/2014/main" id="{45B21678-DBC9-2418-DE43-7A8DA1615D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7967133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Focus Areas: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sz="2600">
                <a:latin typeface="Times New Roman"/>
              </a:rPr>
              <a:t>❖ </a:t>
            </a:r>
            <a:r>
              <a:rPr sz="2600" dirty="0">
                <a:latin typeface="Times New Roman"/>
              </a:rPr>
              <a:t>Digital Surveying: Building a Household Survey app for accurate demographic data collection.</a:t>
            </a:r>
            <a:br>
              <a:rPr sz="2600" dirty="0"/>
            </a:br>
            <a:endParaRPr sz="2600" dirty="0"/>
          </a:p>
        </p:txBody>
      </p:sp>
      <p:sp>
        <p:nvSpPr>
          <p:cNvPr id="124" name="Google Shape;124;p4">
            <a:extLst>
              <a:ext uri="{FF2B5EF4-FFF2-40B4-BE49-F238E27FC236}">
                <a16:creationId xmlns:a16="http://schemas.microsoft.com/office/drawing/2014/main" id="{D34FDEB7-BD8D-7557-2561-7F0589BEFAA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21GNP301L-COMMUNITY CONNECT                                    </a:t>
            </a:r>
            <a:endParaRPr lang="en-US" dirty="0"/>
          </a:p>
        </p:txBody>
      </p:sp>
      <p:pic>
        <p:nvPicPr>
          <p:cNvPr id="126" name="Google Shape;126;p4" title="1739781442631.jpg">
            <a:extLst>
              <a:ext uri="{FF2B5EF4-FFF2-40B4-BE49-F238E27FC236}">
                <a16:creationId xmlns:a16="http://schemas.microsoft.com/office/drawing/2014/main" id="{778AEB42-9C80-5010-6E05-0DDD305F2A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80329A-A74A-E36E-9711-30D434D6D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0878" y="1368821"/>
            <a:ext cx="3327570" cy="531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470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2EFDF860-08B1-CFAD-2B9D-3AD20A904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B634B1F8-01B3-2FE5-CB73-A1527A62FD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3096" y="340588"/>
            <a:ext cx="6803708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sz="2500">
                <a:latin typeface="Algerian"/>
              </a:rPr>
              <a:t>Objective of choosing the specific organization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32" name="Google Shape;132;p5">
            <a:extLst>
              <a:ext uri="{FF2B5EF4-FFF2-40B4-BE49-F238E27FC236}">
                <a16:creationId xmlns:a16="http://schemas.microsoft.com/office/drawing/2014/main" id="{CD6D0BCB-E460-B509-F416-68558CE05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606673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 b="1" dirty="0">
                <a:latin typeface="Times New Roman"/>
              </a:rPr>
              <a:t>Why This Organization?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 dirty="0">
                <a:latin typeface="Times New Roman"/>
              </a:rPr>
              <a:t>❖ Pro-Vision was chosen because its digital initiatives offered a chance to develop a real-world Household Survey application, rather than purely donation-based involvement.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Its structured, recurring field activities (rather than one-off events) made it possible to track progress and contribution across the full 8-week service period.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 dirty="0">
                <a:latin typeface="Times New Roman"/>
              </a:rPr>
              <a:t>❖ The Organization's presence within Chennai made regular, in-person participation logistically practical for a student volunteer.</a:t>
            </a:r>
            <a:endParaRPr lang="en-US"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33" name="Google Shape;133;p5">
            <a:extLst>
              <a:ext uri="{FF2B5EF4-FFF2-40B4-BE49-F238E27FC236}">
                <a16:creationId xmlns:a16="http://schemas.microsoft.com/office/drawing/2014/main" id="{F9108FE8-78FF-C77B-3CF3-8FBE700E8F5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D46BDCCC-8DF2-1613-CF78-23435EAA26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35" name="Google Shape;135;p5" title="1739781442631.jpg">
            <a:extLst>
              <a:ext uri="{FF2B5EF4-FFF2-40B4-BE49-F238E27FC236}">
                <a16:creationId xmlns:a16="http://schemas.microsoft.com/office/drawing/2014/main" id="{C37C9185-6AE5-B263-4D58-929E704951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530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9E2E8C07-90A1-F76A-451A-AFB64208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60746BE0-8778-B2BB-309D-45EBAF77B2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3096" y="340588"/>
            <a:ext cx="6803708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sz="2500">
                <a:latin typeface="Algerian"/>
              </a:rPr>
              <a:t>Objective of choosing the specific organization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32" name="Google Shape;132;p5">
            <a:extLst>
              <a:ext uri="{FF2B5EF4-FFF2-40B4-BE49-F238E27FC236}">
                <a16:creationId xmlns:a16="http://schemas.microsoft.com/office/drawing/2014/main" id="{6BB1CBF9-212D-B584-15C8-BA6ABBA92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606673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600" b="1" dirty="0">
                <a:latin typeface="Times New Roman"/>
              </a:rPr>
              <a:t>Personal and Academic Objectives:</a:t>
            </a:r>
            <a:br>
              <a:rPr sz="2600"/>
            </a:br>
            <a:r>
              <a:rPr sz="2600"/>
              <a:t>❖ </a:t>
            </a:r>
            <a:r>
              <a:rPr sz="2600" dirty="0"/>
              <a:t>To apply classroom knowledge of sustainability and digital surveying science to real ground-level action.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br>
              <a:rPr dirty="0"/>
            </a:br>
            <a:endParaRPr lang="en-US"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33" name="Google Shape;133;p5">
            <a:extLst>
              <a:ext uri="{FF2B5EF4-FFF2-40B4-BE49-F238E27FC236}">
                <a16:creationId xmlns:a16="http://schemas.microsoft.com/office/drawing/2014/main" id="{80A52D78-67CA-64DB-7A00-EB456664190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F8868AE6-0067-C670-FEFC-9665302CC9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35" name="Google Shape;135;p5" title="1739781442631.jpg">
            <a:extLst>
              <a:ext uri="{FF2B5EF4-FFF2-40B4-BE49-F238E27FC236}">
                <a16:creationId xmlns:a16="http://schemas.microsoft.com/office/drawing/2014/main" id="{7910454B-59E3-60EA-6D20-7455239D21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4648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FD4343FB-3182-8277-7E44-C3CDA698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>
            <a:extLst>
              <a:ext uri="{FF2B5EF4-FFF2-40B4-BE49-F238E27FC236}">
                <a16:creationId xmlns:a16="http://schemas.microsoft.com/office/drawing/2014/main" id="{1393A676-3CEB-6746-AA4A-5075BEDF20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3096" y="340588"/>
            <a:ext cx="6803708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sz="2500">
                <a:latin typeface="Algerian"/>
              </a:rPr>
              <a:t>Objective of choosing the specific organization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32" name="Google Shape;132;p5">
            <a:extLst>
              <a:ext uri="{FF2B5EF4-FFF2-40B4-BE49-F238E27FC236}">
                <a16:creationId xmlns:a16="http://schemas.microsoft.com/office/drawing/2014/main" id="{6B9C93CA-1B38-5321-2B5C-F9DEA4828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606673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Broader Motivation: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>
                <a:latin typeface="Times New Roman"/>
              </a:rPr>
              <a:t>❖ </a:t>
            </a:r>
            <a:r>
              <a:rPr sz="2000" dirty="0">
                <a:latin typeface="Times New Roman"/>
              </a:rPr>
              <a:t>Inspired by founder the Board of </a:t>
            </a:r>
            <a:r>
              <a:rPr sz="2000" dirty="0" err="1">
                <a:latin typeface="Times New Roman"/>
              </a:rPr>
              <a:t>Trustees's</a:t>
            </a:r>
            <a:r>
              <a:rPr sz="2000" dirty="0">
                <a:latin typeface="Times New Roman"/>
              </a:rPr>
              <a:t> story of building an impact-driven organization despite personal challenges.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>
                <a:latin typeface="Times New Roman"/>
              </a:rPr>
              <a:t>❖ </a:t>
            </a:r>
            <a:r>
              <a:rPr sz="2000" dirty="0">
                <a:latin typeface="Times New Roman"/>
              </a:rPr>
              <a:t>Aimed to build a long-term habit of digital surveying responsibility that continues beyond the course requirement.</a:t>
            </a:r>
            <a:endParaRPr lang="en-US"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33" name="Google Shape;133;p5">
            <a:extLst>
              <a:ext uri="{FF2B5EF4-FFF2-40B4-BE49-F238E27FC236}">
                <a16:creationId xmlns:a16="http://schemas.microsoft.com/office/drawing/2014/main" id="{FB096F9D-B047-6885-A388-1496CA4E5D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34" name="Google Shape;134;p5">
            <a:extLst>
              <a:ext uri="{FF2B5EF4-FFF2-40B4-BE49-F238E27FC236}">
                <a16:creationId xmlns:a16="http://schemas.microsoft.com/office/drawing/2014/main" id="{F0B4FB40-CC7E-CCA9-424D-8683181435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35" name="Google Shape;135;p5" title="1739781442631.jpg">
            <a:extLst>
              <a:ext uri="{FF2B5EF4-FFF2-40B4-BE49-F238E27FC236}">
                <a16:creationId xmlns:a16="http://schemas.microsoft.com/office/drawing/2014/main" id="{DBDDD422-CB76-B5D3-7CB0-A33A37668E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8448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>
            <a:spLocks noGrp="1"/>
          </p:cNvSpPr>
          <p:nvPr>
            <p:ph type="title"/>
          </p:nvPr>
        </p:nvSpPr>
        <p:spPr>
          <a:xfrm>
            <a:off x="3056729" y="419686"/>
            <a:ext cx="5785613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sz="2500">
                <a:latin typeface="Algerian"/>
              </a:rPr>
              <a:t>Nature of ACTIVITies of the organization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1" name="Google Shape;141;p6"/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Four Verticals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 dirty="0">
                <a:latin typeface="Times New Roman"/>
              </a:rPr>
              <a:t>Pro-Vision runs initiatives across four core verticals: Community Development, Digital Literacy, Health &amp; Education.</a:t>
            </a: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❖ Each vertical combines awareness-building with direct, on-ground action rather than fundraising alone.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 dirty="0">
                <a:latin typeface="Times New Roman"/>
              </a:rPr>
              <a:t>❖ This structure allows the Organization to address interconnected community needs, not just isolated causes.</a:t>
            </a:r>
            <a:endParaRPr lang="en-US" sz="18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42" name="Google Shape;142;p6"/>
          <p:cNvSpPr txBox="1">
            <a:spLocks noGrp="1"/>
          </p:cNvSpPr>
          <p:nvPr>
            <p:ph type="ftr" idx="11"/>
          </p:nvPr>
        </p:nvSpPr>
        <p:spPr>
          <a:xfrm>
            <a:off x="4088990" y="6343841"/>
            <a:ext cx="401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</a:t>
            </a:r>
            <a:endParaRPr dirty="0"/>
          </a:p>
        </p:txBody>
      </p:sp>
      <p:sp>
        <p:nvSpPr>
          <p:cNvPr id="143" name="Google Shape;1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44" name="Google Shape;144;p6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ED086B6B-8414-6A14-617D-CD8B60E39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>
            <a:extLst>
              <a:ext uri="{FF2B5EF4-FFF2-40B4-BE49-F238E27FC236}">
                <a16:creationId xmlns:a16="http://schemas.microsoft.com/office/drawing/2014/main" id="{602E3420-3406-F4AD-EDB9-4F3F520A4A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6729" y="419686"/>
            <a:ext cx="5785613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sz="2500">
                <a:latin typeface="Algerian"/>
              </a:rPr>
              <a:t>Nature of Activities of the organization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1" name="Google Shape;141;p6">
            <a:extLst>
              <a:ext uri="{FF2B5EF4-FFF2-40B4-BE49-F238E27FC236}">
                <a16:creationId xmlns:a16="http://schemas.microsoft.com/office/drawing/2014/main" id="{E4D3A007-AE31-48D0-6D3F-AB47BAE7B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sz="2000" b="1" dirty="0">
                <a:latin typeface="Times New Roman"/>
              </a:rPr>
              <a:t>Digital Surveying Vertical (Primary Focus):</a:t>
            </a:r>
            <a:endParaRPr lang="en-US" sz="2000" b="1" dirty="0">
              <a:latin typeface="Times New Roman"/>
            </a:endParaRPr>
          </a:p>
          <a:p>
            <a:pPr indent="-457200">
              <a:lnSpc>
                <a:spcPct val="160000"/>
              </a:lnSpc>
              <a:spcBef>
                <a:spcPts val="0"/>
              </a:spcBef>
              <a:buSzPts val="2000"/>
            </a:pPr>
            <a:r>
              <a:rPr sz="2000" dirty="0"/>
              <a:t> Designing survey logic and offline forms to capture local demographic data efficiently.</a:t>
            </a:r>
            <a:endParaRPr lang="en-US" sz="2000" dirty="0"/>
          </a:p>
          <a:p>
            <a:pPr marL="342900">
              <a:lnSpc>
                <a:spcPct val="160000"/>
              </a:lnSpc>
              <a:spcBef>
                <a:spcPts val="0"/>
              </a:spcBef>
              <a:buSzPts val="2000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lnSpc>
                <a:spcPct val="160000"/>
              </a:lnSpc>
              <a:spcBef>
                <a:spcPts val="0"/>
              </a:spcBef>
              <a:buSzPts val="2000"/>
            </a:pPr>
            <a:r>
              <a:rPr sz="2000" dirty="0">
                <a:latin typeface="Times New Roman"/>
              </a:rPr>
              <a:t> Developing mobile and web interfaces for data entry workers to manage records.</a:t>
            </a:r>
            <a:br>
              <a:rPr dirty="0"/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lnSpc>
                <a:spcPct val="160000"/>
              </a:lnSpc>
              <a:spcBef>
                <a:spcPts val="0"/>
              </a:spcBef>
              <a:buSzPts val="2000"/>
            </a:pPr>
            <a:r>
              <a:rPr sz="2000" dirty="0">
                <a:latin typeface="Times New Roman"/>
              </a:rPr>
              <a:t> Creating centralized databases to synchronize collected data seamlessly.</a:t>
            </a:r>
            <a:br>
              <a:rPr dirty="0"/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lnSpc>
                <a:spcPct val="160000"/>
              </a:lnSpc>
              <a:spcBef>
                <a:spcPts val="0"/>
              </a:spcBef>
              <a:buSzPts val="2000"/>
            </a:pPr>
            <a:r>
              <a:rPr sz="2000" dirty="0">
                <a:latin typeface="Times New Roman"/>
              </a:rPr>
              <a:t> Implementing robust authentication systems to ensure data security and privacy.</a:t>
            </a:r>
            <a:endParaRPr lang="en-US"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42" name="Google Shape;142;p6">
            <a:extLst>
              <a:ext uri="{FF2B5EF4-FFF2-40B4-BE49-F238E27FC236}">
                <a16:creationId xmlns:a16="http://schemas.microsoft.com/office/drawing/2014/main" id="{CEB13473-1E57-D957-C1E7-3AAE6C52DC2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88990" y="6343841"/>
            <a:ext cx="401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</a:t>
            </a:r>
            <a:endParaRPr dirty="0"/>
          </a:p>
        </p:txBody>
      </p:sp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631216DC-BA71-A044-ABDF-3633763A61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44" name="Google Shape;144;p6" title="1739781442631.jpg">
            <a:extLst>
              <a:ext uri="{FF2B5EF4-FFF2-40B4-BE49-F238E27FC236}">
                <a16:creationId xmlns:a16="http://schemas.microsoft.com/office/drawing/2014/main" id="{79B3AEC2-1A88-D906-A9A5-5130D09C4B8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5741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084F2770-C774-F8E6-A841-BE6214426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>
            <a:extLst>
              <a:ext uri="{FF2B5EF4-FFF2-40B4-BE49-F238E27FC236}">
                <a16:creationId xmlns:a16="http://schemas.microsoft.com/office/drawing/2014/main" id="{5AF4B894-EA98-275B-E9D6-AB9DBC2637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56729" y="419686"/>
            <a:ext cx="5785613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sz="2500">
                <a:latin typeface="Algerian"/>
              </a:rPr>
              <a:t>Nature of Activities of the organization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41" name="Google Shape;141;p6">
            <a:extLst>
              <a:ext uri="{FF2B5EF4-FFF2-40B4-BE49-F238E27FC236}">
                <a16:creationId xmlns:a16="http://schemas.microsoft.com/office/drawing/2014/main" id="{D5057907-B1DE-4B30-58AC-A1BEC2EE79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indent="0">
              <a:lnSpc>
                <a:spcPct val="16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Verticals (Education, Sustainable Development, Health):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>
              <a:lnSpc>
                <a:spcPct val="160000"/>
              </a:lnSpc>
              <a:spcBef>
                <a:spcPts val="0"/>
              </a:spcBef>
              <a:buSzPts val="2000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 tuition, scholarships for marginalized students, school-supply distribution drives, exam-fear training programs.</a:t>
            </a:r>
          </a:p>
          <a:p>
            <a:pPr marL="285750" indent="-285750">
              <a:lnSpc>
                <a:spcPct val="160000"/>
              </a:lnSpc>
              <a:spcBef>
                <a:spcPts val="0"/>
              </a:spcBef>
              <a:buSzPts val="2000"/>
            </a:pP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Development: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Youth Development Training, capacity-building programs, employment fairs for the unemployed in slum areas.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60000"/>
              </a:lnSpc>
              <a:spcBef>
                <a:spcPts val="0"/>
              </a:spcBef>
              <a:buSzPts val="20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camps, child health and hygiene awareness, advice sessions for mothers supported by doctors.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60000"/>
              </a:lnSpc>
              <a:spcBef>
                <a:spcPts val="0"/>
              </a:spcBef>
              <a:buSzPts val="2000"/>
            </a:pPr>
            <a:r>
              <a:rPr sz="1800" dirty="0">
                <a:latin typeface="Times New Roman"/>
              </a:rPr>
              <a:t> While broader in scope, these verticals reflect the Organization's holistic community-development approach.</a:t>
            </a:r>
            <a:endParaRPr lang="en-US" sz="18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42" name="Google Shape;142;p6">
            <a:extLst>
              <a:ext uri="{FF2B5EF4-FFF2-40B4-BE49-F238E27FC236}">
                <a16:creationId xmlns:a16="http://schemas.microsoft.com/office/drawing/2014/main" id="{93D8D89D-8B41-736B-E2F4-0DDC2A51B20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88990" y="6343841"/>
            <a:ext cx="401401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</a:t>
            </a:r>
            <a:endParaRPr dirty="0"/>
          </a:p>
        </p:txBody>
      </p:sp>
      <p:sp>
        <p:nvSpPr>
          <p:cNvPr id="143" name="Google Shape;143;p6">
            <a:extLst>
              <a:ext uri="{FF2B5EF4-FFF2-40B4-BE49-F238E27FC236}">
                <a16:creationId xmlns:a16="http://schemas.microsoft.com/office/drawing/2014/main" id="{687D65FD-872D-7731-681C-B13CB27CDD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44" name="Google Shape;144;p6" title="1739781442631.jpg">
            <a:extLst>
              <a:ext uri="{FF2B5EF4-FFF2-40B4-BE49-F238E27FC236}">
                <a16:creationId xmlns:a16="http://schemas.microsoft.com/office/drawing/2014/main" id="{F58E5319-67BF-0DA5-BDE5-C4022D48689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5111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>
            <a:spLocks noGrp="1"/>
          </p:cNvSpPr>
          <p:nvPr>
            <p:ph type="title"/>
          </p:nvPr>
        </p:nvSpPr>
        <p:spPr>
          <a:xfrm>
            <a:off x="2744859" y="417393"/>
            <a:ext cx="5408541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Week-wise activity undertaken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0" name="Google Shape;150;p7"/>
          <p:cNvSpPr txBox="1">
            <a:spLocks noGrp="1"/>
          </p:cNvSpPr>
          <p:nvPr>
            <p:ph type="body" idx="1"/>
          </p:nvPr>
        </p:nvSpPr>
        <p:spPr>
          <a:xfrm>
            <a:off x="643466" y="1782981"/>
            <a:ext cx="7690989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&amp; 2: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Pro-Vision's requirements for household data collection and designed the application architecture and database schema</a:t>
            </a:r>
            <a:r>
              <a:rPr lang="en-IN" dirty="0"/>
              <a:t>.</a:t>
            </a:r>
          </a:p>
        </p:txBody>
      </p:sp>
      <p:sp>
        <p:nvSpPr>
          <p:cNvPr id="151" name="Google Shape;1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</a:t>
            </a:r>
            <a:endParaRPr dirty="0"/>
          </a:p>
        </p:txBody>
      </p:sp>
      <p:sp>
        <p:nvSpPr>
          <p:cNvPr id="152" name="Google Shape;1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53" name="Google Shape;153;p7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BF6401-5B96-A7DF-14DB-C99F80F7BB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48" t="25409" r="-1848" b="-423"/>
          <a:stretch>
            <a:fillRect/>
          </a:stretch>
        </p:blipFill>
        <p:spPr>
          <a:xfrm>
            <a:off x="8077200" y="1644420"/>
            <a:ext cx="4114800" cy="45325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DFDC27C-8AA5-DB0A-2DFD-64B8972A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>
            <a:extLst>
              <a:ext uri="{FF2B5EF4-FFF2-40B4-BE49-F238E27FC236}">
                <a16:creationId xmlns:a16="http://schemas.microsoft.com/office/drawing/2014/main" id="{054C6B8E-EC55-DB5A-545F-CAB02E7C1D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4859" y="417393"/>
            <a:ext cx="5408541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Week-wise activity undertaken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0" name="Google Shape;150;p7">
            <a:extLst>
              <a:ext uri="{FF2B5EF4-FFF2-40B4-BE49-F238E27FC236}">
                <a16:creationId xmlns:a16="http://schemas.microsoft.com/office/drawing/2014/main" id="{6A60D1EE-1FF7-F4B9-B62C-109048E72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6" y="1782981"/>
            <a:ext cx="7690989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 &amp; 4: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Developed the frontend UI for the Household Survey app, implementing complex forms for capturing demographic data</a:t>
            </a:r>
            <a:r>
              <a:rPr lang="en-IN" dirty="0"/>
              <a:t>.</a:t>
            </a:r>
          </a:p>
        </p:txBody>
      </p:sp>
      <p:sp>
        <p:nvSpPr>
          <p:cNvPr id="151" name="Google Shape;151;p7">
            <a:extLst>
              <a:ext uri="{FF2B5EF4-FFF2-40B4-BE49-F238E27FC236}">
                <a16:creationId xmlns:a16="http://schemas.microsoft.com/office/drawing/2014/main" id="{8808E2E8-B806-9322-6CAF-D3B5EC1CD3C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</a:t>
            </a:r>
            <a:endParaRPr dirty="0"/>
          </a:p>
        </p:txBody>
      </p:sp>
      <p:sp>
        <p:nvSpPr>
          <p:cNvPr id="152" name="Google Shape;152;p7">
            <a:extLst>
              <a:ext uri="{FF2B5EF4-FFF2-40B4-BE49-F238E27FC236}">
                <a16:creationId xmlns:a16="http://schemas.microsoft.com/office/drawing/2014/main" id="{4E442F90-2740-2D63-77CA-3A1E4724C2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53" name="Google Shape;153;p7" title="1739781442631.jpg">
            <a:extLst>
              <a:ext uri="{FF2B5EF4-FFF2-40B4-BE49-F238E27FC236}">
                <a16:creationId xmlns:a16="http://schemas.microsoft.com/office/drawing/2014/main" id="{9F36A8B5-D69B-3631-48FA-93C2135458E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580830-3366-38D0-B41B-B9F68DC45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455" y="1341126"/>
            <a:ext cx="3760694" cy="538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25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4093D1E-42CB-D95A-7BC6-A51CA917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>
            <a:extLst>
              <a:ext uri="{FF2B5EF4-FFF2-40B4-BE49-F238E27FC236}">
                <a16:creationId xmlns:a16="http://schemas.microsoft.com/office/drawing/2014/main" id="{EB4EACA6-1F7B-065C-5E14-F2ECD6E5D8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4859" y="417393"/>
            <a:ext cx="5408541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Week-wise activity undertaken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0" name="Google Shape;150;p7">
            <a:extLst>
              <a:ext uri="{FF2B5EF4-FFF2-40B4-BE49-F238E27FC236}">
                <a16:creationId xmlns:a16="http://schemas.microsoft.com/office/drawing/2014/main" id="{76A9158A-913C-922D-ED9F-F814F888DC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8421988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sz="2000" dirty="0">
                <a:latin typeface="Times New Roman"/>
              </a:rPr>
              <a:t>Week 5 &amp; 6: Integrated the backend API with the database, ensuring secure storage of sensitive household information.</a:t>
            </a:r>
            <a:endParaRPr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51" name="Google Shape;151;p7">
            <a:extLst>
              <a:ext uri="{FF2B5EF4-FFF2-40B4-BE49-F238E27FC236}">
                <a16:creationId xmlns:a16="http://schemas.microsoft.com/office/drawing/2014/main" id="{919CA085-7C54-CA1E-FCAB-8C9B210AB5E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</a:t>
            </a:r>
            <a:endParaRPr dirty="0"/>
          </a:p>
        </p:txBody>
      </p:sp>
      <p:sp>
        <p:nvSpPr>
          <p:cNvPr id="152" name="Google Shape;152;p7">
            <a:extLst>
              <a:ext uri="{FF2B5EF4-FFF2-40B4-BE49-F238E27FC236}">
                <a16:creationId xmlns:a16="http://schemas.microsoft.com/office/drawing/2014/main" id="{0EE95013-778B-6AA4-48F4-E3B2AA7AAE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53" name="Google Shape;153;p7" title="1739781442631.jpg">
            <a:extLst>
              <a:ext uri="{FF2B5EF4-FFF2-40B4-BE49-F238E27FC236}">
                <a16:creationId xmlns:a16="http://schemas.microsoft.com/office/drawing/2014/main" id="{5EF9EDB6-1E4D-E8B9-B3DF-53EF31A650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24F5BA-427C-3253-4984-311920D33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474" y="2191870"/>
            <a:ext cx="3136526" cy="464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75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30D6F2E-430E-DFF6-E8A7-EE3E1673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>
            <a:extLst>
              <a:ext uri="{FF2B5EF4-FFF2-40B4-BE49-F238E27FC236}">
                <a16:creationId xmlns:a16="http://schemas.microsoft.com/office/drawing/2014/main" id="{2E6A1AE5-FAF2-93FE-5913-4323C8171A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4859" y="417393"/>
            <a:ext cx="5408541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 dirty="0">
                <a:latin typeface="Algerian"/>
                <a:ea typeface="Algerian"/>
                <a:cs typeface="Algerian"/>
                <a:sym typeface="Algerian"/>
              </a:rPr>
              <a:t>Week-wise activity undertaken</a:t>
            </a:r>
            <a:endParaRPr sz="2500" dirty="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0" name="Google Shape;150;p7">
            <a:extLst>
              <a:ext uri="{FF2B5EF4-FFF2-40B4-BE49-F238E27FC236}">
                <a16:creationId xmlns:a16="http://schemas.microsoft.com/office/drawing/2014/main" id="{EBE75DBC-452E-ED38-0098-93D8A2C834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8421988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sz="2000" dirty="0">
                <a:latin typeface="Libre Baskerville"/>
              </a:rPr>
              <a:t>Week 7 &amp; 8: Conducted rigorous testing, fixed bugs, and demonstrated the completed Household Survey app to the organization.</a:t>
            </a:r>
            <a:endParaRPr sz="2000" dirty="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1" name="Google Shape;151;p7">
            <a:extLst>
              <a:ext uri="{FF2B5EF4-FFF2-40B4-BE49-F238E27FC236}">
                <a16:creationId xmlns:a16="http://schemas.microsoft.com/office/drawing/2014/main" id="{E471F33D-9078-302F-DCD2-1121199D231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52" name="Google Shape;152;p7">
            <a:extLst>
              <a:ext uri="{FF2B5EF4-FFF2-40B4-BE49-F238E27FC236}">
                <a16:creationId xmlns:a16="http://schemas.microsoft.com/office/drawing/2014/main" id="{53512D08-09AB-AA07-814F-560FCEFA3B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53" name="Google Shape;153;p7" title="1739781442631.jpg">
            <a:extLst>
              <a:ext uri="{FF2B5EF4-FFF2-40B4-BE49-F238E27FC236}">
                <a16:creationId xmlns:a16="http://schemas.microsoft.com/office/drawing/2014/main" id="{FB735E02-C9A4-C925-09B8-04D7D08C837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404EA3-B570-B733-F1A2-8EDB032142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01" t="21569" r="11509"/>
          <a:stretch>
            <a:fillRect/>
          </a:stretch>
        </p:blipFill>
        <p:spPr>
          <a:xfrm>
            <a:off x="7275855" y="2820241"/>
            <a:ext cx="4786870" cy="397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5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>
            <a:spLocks noGrp="1"/>
          </p:cNvSpPr>
          <p:nvPr>
            <p:ph type="title"/>
          </p:nvPr>
        </p:nvSpPr>
        <p:spPr>
          <a:xfrm>
            <a:off x="4038600" y="467857"/>
            <a:ext cx="373057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Tangible learning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9" name="Google Shape;159;p8"/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Technical/Practical Learning</a:t>
            </a:r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sz="2000" dirty="0">
                <a:latin typeface="Times New Roman"/>
              </a:rPr>
              <a:t>Understood real ground-level digital surveying challenges (offline data sync, complex form handling, and user authentication) not always evident from textbook study.</a:t>
            </a:r>
            <a:endParaRPr lang="en-US" sz="2000" dirty="0">
              <a:latin typeface="Times New Roman"/>
            </a:endParaRPr>
          </a:p>
          <a:p>
            <a:pPr marL="342900">
              <a:lnSpc>
                <a:spcPct val="150000"/>
              </a:lnSpc>
              <a:spcBef>
                <a:spcPts val="0"/>
              </a:spcBef>
              <a:buSzPts val="2000"/>
            </a:pPr>
            <a:endParaRPr sz="2000" dirty="0">
              <a:latin typeface="Times New Roman"/>
            </a:endParaRPr>
          </a:p>
          <a:p>
            <a:pPr indent="-4572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sz="2000" dirty="0">
                <a:latin typeface="Times New Roman"/>
              </a:rPr>
              <a:t> Learned to test application stability and manage deployment requirements.</a:t>
            </a:r>
            <a:endParaRPr sz="2000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60" name="Google Shape;16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61" name="Google Shape;16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62" name="Google Shape;162;p8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8CB04BCA-BEFF-4ADC-484A-DA15F708C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>
            <a:extLst>
              <a:ext uri="{FF2B5EF4-FFF2-40B4-BE49-F238E27FC236}">
                <a16:creationId xmlns:a16="http://schemas.microsoft.com/office/drawing/2014/main" id="{DFB31FBB-187A-A306-7EB7-D775156A3D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8600" y="467857"/>
            <a:ext cx="373057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Tangible learning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9" name="Google Shape;159;p8">
            <a:extLst>
              <a:ext uri="{FF2B5EF4-FFF2-40B4-BE49-F238E27FC236}">
                <a16:creationId xmlns:a16="http://schemas.microsoft.com/office/drawing/2014/main" id="{7C9BD866-10D1-889D-735F-76A95F9CD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Interpersonal &amp; Soft Skills: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/>
            </a:br>
            <a:r>
              <a:rPr sz="2000">
                <a:latin typeface="Sitka Display" pitchFamily="2" charset="0"/>
              </a:rPr>
              <a:t>❖</a:t>
            </a:r>
            <a:r>
              <a:rPr sz="2000">
                <a:latin typeface="Times New Roman"/>
              </a:rPr>
              <a:t> </a:t>
            </a:r>
            <a:r>
              <a:rPr sz="2000" dirty="0">
                <a:latin typeface="Times New Roman"/>
              </a:rPr>
              <a:t>Developed teamwork and coordination skills working alongside Organization volunteers and community members from diverse backgrounds.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b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confidence in organizing and leading small group activities in the field.</a:t>
            </a:r>
            <a:endParaRPr sz="2000" b="1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60" name="Google Shape;160;p8">
            <a:extLst>
              <a:ext uri="{FF2B5EF4-FFF2-40B4-BE49-F238E27FC236}">
                <a16:creationId xmlns:a16="http://schemas.microsoft.com/office/drawing/2014/main" id="{860BC5CF-2C8A-9E51-7E52-8389C033FF8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61" name="Google Shape;161;p8">
            <a:extLst>
              <a:ext uri="{FF2B5EF4-FFF2-40B4-BE49-F238E27FC236}">
                <a16:creationId xmlns:a16="http://schemas.microsoft.com/office/drawing/2014/main" id="{06EBB7D1-A373-EEDF-A083-184C741133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62" name="Google Shape;162;p8" title="1739781442631.jpg">
            <a:extLst>
              <a:ext uri="{FF2B5EF4-FFF2-40B4-BE49-F238E27FC236}">
                <a16:creationId xmlns:a16="http://schemas.microsoft.com/office/drawing/2014/main" id="{FF93B852-2B41-FF00-CECE-1F3D2F6005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315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40E51D50-F725-5F30-8D54-08A642728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>
            <a:extLst>
              <a:ext uri="{FF2B5EF4-FFF2-40B4-BE49-F238E27FC236}">
                <a16:creationId xmlns:a16="http://schemas.microsoft.com/office/drawing/2014/main" id="{323C1937-0EB9-8B80-2BE0-F8661010D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8600" y="467857"/>
            <a:ext cx="3730570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Tangible learning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59" name="Google Shape;159;p8">
            <a:extLst>
              <a:ext uri="{FF2B5EF4-FFF2-40B4-BE49-F238E27FC236}">
                <a16:creationId xmlns:a16="http://schemas.microsoft.com/office/drawing/2014/main" id="{A42D20E1-867C-AB2F-E380-713C5A513F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3467" y="1782981"/>
            <a:ext cx="10905066" cy="439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r>
              <a:rPr sz="2000" b="1" dirty="0">
                <a:latin typeface="Times New Roman"/>
              </a:rPr>
              <a:t>Personal &amp; Civic Growth:</a:t>
            </a:r>
            <a:br>
              <a:rPr/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❖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lasting sense of digital surveying and civic responsibility that extends beyond the course requirement.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000"/>
              <a:buNone/>
            </a:pPr>
            <a:endParaRPr sz="2000" b="1" dirty="0"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</p:txBody>
      </p:sp>
      <p:sp>
        <p:nvSpPr>
          <p:cNvPr id="160" name="Google Shape;160;p8">
            <a:extLst>
              <a:ext uri="{FF2B5EF4-FFF2-40B4-BE49-F238E27FC236}">
                <a16:creationId xmlns:a16="http://schemas.microsoft.com/office/drawing/2014/main" id="{B6E5E12A-4DDD-0F17-1214-9CF8297DBCF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61" name="Google Shape;161;p8">
            <a:extLst>
              <a:ext uri="{FF2B5EF4-FFF2-40B4-BE49-F238E27FC236}">
                <a16:creationId xmlns:a16="http://schemas.microsoft.com/office/drawing/2014/main" id="{B9C0FCD7-934F-C594-83A4-603B27A74F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62" name="Google Shape;162;p8" title="1739781442631.jpg">
            <a:extLst>
              <a:ext uri="{FF2B5EF4-FFF2-40B4-BE49-F238E27FC236}">
                <a16:creationId xmlns:a16="http://schemas.microsoft.com/office/drawing/2014/main" id="{392A5AB7-0ABF-FBB8-FBFC-2F99268244E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0647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>
            <a:spLocks noGrp="1"/>
          </p:cNvSpPr>
          <p:nvPr>
            <p:ph type="title"/>
          </p:nvPr>
        </p:nvSpPr>
        <p:spPr>
          <a:xfrm>
            <a:off x="4122306" y="321734"/>
            <a:ext cx="3947387" cy="113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gerian"/>
              <a:buNone/>
            </a:pPr>
            <a:r>
              <a:rPr lang="en-US" sz="2500">
                <a:latin typeface="Algerian"/>
                <a:ea typeface="Algerian"/>
                <a:cs typeface="Algerian"/>
                <a:sym typeface="Algerian"/>
              </a:rPr>
              <a:t>certificate</a:t>
            </a:r>
            <a:endParaRPr sz="2500">
              <a:solidFill>
                <a:schemeClr val="dk1"/>
              </a:solidFill>
              <a:latin typeface="Algerian"/>
              <a:ea typeface="Algerian"/>
              <a:cs typeface="Algerian"/>
              <a:sym typeface="Algerian"/>
            </a:endParaRPr>
          </a:p>
        </p:txBody>
      </p:sp>
      <p:sp>
        <p:nvSpPr>
          <p:cNvPr id="178" name="Google Shape;17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                                    </a:t>
            </a:r>
            <a:endParaRPr dirty="0"/>
          </a:p>
        </p:txBody>
      </p: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80" name="Google Shape;180;p10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ABC132-6413-1D55-C263-4EB757B2B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019" y="1274909"/>
            <a:ext cx="4258269" cy="50814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>
            <a:spLocks noGrp="1"/>
          </p:cNvSpPr>
          <p:nvPr>
            <p:ph type="body" idx="1"/>
          </p:nvPr>
        </p:nvSpPr>
        <p:spPr>
          <a:xfrm>
            <a:off x="479981" y="2485501"/>
            <a:ext cx="10515600" cy="1058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None/>
            </a:pPr>
            <a:r>
              <a:rPr lang="en-US" sz="6000" dirty="0">
                <a:solidFill>
                  <a:srgbClr val="FF0000"/>
                </a:solidFill>
                <a:latin typeface="Bernard MT Condensed" panose="02050806060905020404" pitchFamily="18" charset="0"/>
              </a:rPr>
              <a:t>THANK YOU</a:t>
            </a:r>
            <a:endParaRPr dirty="0">
              <a:solidFill>
                <a:srgbClr val="FF0000"/>
              </a:solidFill>
              <a:latin typeface="Bernard MT Condensed" panose="02050806060905020404" pitchFamily="18" charset="0"/>
            </a:endParaRPr>
          </a:p>
        </p:txBody>
      </p:sp>
      <p:sp>
        <p:nvSpPr>
          <p:cNvPr id="186" name="Google Shape;18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21GNP301L-COMMUNITY CONNECT</a:t>
            </a:r>
            <a:endParaRPr dirty="0"/>
          </a:p>
        </p:txBody>
      </p:sp>
      <p:sp>
        <p:nvSpPr>
          <p:cNvPr id="187" name="Google Shape;18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88" name="Google Shape;188;p11" title="17397814426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25" y="173928"/>
            <a:ext cx="2483076" cy="1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881</Words>
  <Application>Microsoft Office PowerPoint</Application>
  <PresentationFormat>Widescreen</PresentationFormat>
  <Paragraphs>119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Times New Roman</vt:lpstr>
      <vt:lpstr>Arial</vt:lpstr>
      <vt:lpstr>Algerian</vt:lpstr>
      <vt:lpstr>Calibri</vt:lpstr>
      <vt:lpstr>Libre Baskerville</vt:lpstr>
      <vt:lpstr>Noto Sans Symbols</vt:lpstr>
      <vt:lpstr>Bernard MT Condensed</vt:lpstr>
      <vt:lpstr>Sitka Display</vt:lpstr>
      <vt:lpstr>Office Theme</vt:lpstr>
      <vt:lpstr>PowerPoint Presentation</vt:lpstr>
      <vt:lpstr>Presentation overview:</vt:lpstr>
      <vt:lpstr>Course overview</vt:lpstr>
      <vt:lpstr>ABOUT THE ORGANIZATION:</vt:lpstr>
      <vt:lpstr>ABOUT THE ORGANIZATION:</vt:lpstr>
      <vt:lpstr>Objective of choosing the specific organization</vt:lpstr>
      <vt:lpstr>Objective of choosing the specific organization</vt:lpstr>
      <vt:lpstr>Objective of choosing the specific organization</vt:lpstr>
      <vt:lpstr>Nature of ACTIVITies of the organization</vt:lpstr>
      <vt:lpstr>Nature of Activities of the organization</vt:lpstr>
      <vt:lpstr>Nature of Activities of the organization</vt:lpstr>
      <vt:lpstr>Week-wise activity undertaken</vt:lpstr>
      <vt:lpstr>Week-wise activity undertaken</vt:lpstr>
      <vt:lpstr>Week-wise activity undertaken</vt:lpstr>
      <vt:lpstr>Week-wise activity undertaken</vt:lpstr>
      <vt:lpstr>Tangible learning</vt:lpstr>
      <vt:lpstr>Tangible learning</vt:lpstr>
      <vt:lpstr>Tangible learning</vt:lpstr>
      <vt:lpstr>certificate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MS REVATHY S</dc:creator>
  <cp:lastModifiedBy>Vishnu Tharan</cp:lastModifiedBy>
  <cp:revision>9</cp:revision>
  <dcterms:created xsi:type="dcterms:W3CDTF">2020-06-15T12:13:30Z</dcterms:created>
  <dcterms:modified xsi:type="dcterms:W3CDTF">2026-09-17T04:59:10Z</dcterms:modified>
</cp:coreProperties>
</file>